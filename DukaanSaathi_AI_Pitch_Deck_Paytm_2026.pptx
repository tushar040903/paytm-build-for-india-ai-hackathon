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1072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shar Bhardwaj" userId="42228ff485f88e31" providerId="LiveId" clId="{9F433EB7-D8F1-4E90-8130-14ECAA018AF0}"/>
    <pc:docChg chg="modSld">
      <pc:chgData name="Tushar Bhardwaj" userId="42228ff485f88e31" providerId="LiveId" clId="{9F433EB7-D8F1-4E90-8130-14ECAA018AF0}" dt="2026-10-26T15:18:43.850" v="26" actId="255"/>
      <pc:docMkLst>
        <pc:docMk/>
      </pc:docMkLst>
      <pc:sldChg chg="modSp mod">
        <pc:chgData name="Tushar Bhardwaj" userId="42228ff485f88e31" providerId="LiveId" clId="{9F433EB7-D8F1-4E90-8130-14ECAA018AF0}" dt="2026-10-26T15:16:09.290" v="6" actId="14100"/>
        <pc:sldMkLst>
          <pc:docMk/>
          <pc:sldMk cId="0" sldId="256"/>
        </pc:sldMkLst>
        <pc:spChg chg="mod">
          <ac:chgData name="Tushar Bhardwaj" userId="42228ff485f88e31" providerId="LiveId" clId="{9F433EB7-D8F1-4E90-8130-14ECAA018AF0}" dt="2026-10-26T15:15:14.694" v="2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Tushar Bhardwaj" userId="42228ff485f88e31" providerId="LiveId" clId="{9F433EB7-D8F1-4E90-8130-14ECAA018AF0}" dt="2026-10-26T15:15:49.348" v="4" actId="14100"/>
          <ac:spMkLst>
            <pc:docMk/>
            <pc:sldMk cId="0" sldId="256"/>
            <ac:spMk id="20" creationId="{00000000-0000-0000-0000-000000000000}"/>
          </ac:spMkLst>
        </pc:spChg>
        <pc:spChg chg="mod">
          <ac:chgData name="Tushar Bhardwaj" userId="42228ff485f88e31" providerId="LiveId" clId="{9F433EB7-D8F1-4E90-8130-14ECAA018AF0}" dt="2026-10-26T15:16:09.290" v="6" actId="14100"/>
          <ac:spMkLst>
            <pc:docMk/>
            <pc:sldMk cId="0" sldId="256"/>
            <ac:spMk id="21" creationId="{00000000-0000-0000-0000-000000000000}"/>
          </ac:spMkLst>
        </pc:spChg>
      </pc:sldChg>
      <pc:sldChg chg="modSp mod">
        <pc:chgData name="Tushar Bhardwaj" userId="42228ff485f88e31" providerId="LiveId" clId="{9F433EB7-D8F1-4E90-8130-14ECAA018AF0}" dt="2026-10-26T11:49:36.259" v="1" actId="1076"/>
        <pc:sldMkLst>
          <pc:docMk/>
          <pc:sldMk cId="0" sldId="257"/>
        </pc:sldMkLst>
        <pc:spChg chg="mod">
          <ac:chgData name="Tushar Bhardwaj" userId="42228ff485f88e31" providerId="LiveId" clId="{9F433EB7-D8F1-4E90-8130-14ECAA018AF0}" dt="2026-10-26T11:49:36.259" v="1" actId="1076"/>
          <ac:spMkLst>
            <pc:docMk/>
            <pc:sldMk cId="0" sldId="257"/>
            <ac:spMk id="6" creationId="{00000000-0000-0000-0000-000000000000}"/>
          </ac:spMkLst>
        </pc:spChg>
      </pc:sldChg>
      <pc:sldChg chg="modSp mod">
        <pc:chgData name="Tushar Bhardwaj" userId="42228ff485f88e31" providerId="LiveId" clId="{9F433EB7-D8F1-4E90-8130-14ECAA018AF0}" dt="2026-10-26T15:18:43.850" v="26" actId="255"/>
        <pc:sldMkLst>
          <pc:docMk/>
          <pc:sldMk cId="0" sldId="265"/>
        </pc:sldMkLst>
        <pc:spChg chg="mod">
          <ac:chgData name="Tushar Bhardwaj" userId="42228ff485f88e31" providerId="LiveId" clId="{9F433EB7-D8F1-4E90-8130-14ECAA018AF0}" dt="2026-10-26T15:18:43.850" v="26" actId="255"/>
          <ac:spMkLst>
            <pc:docMk/>
            <pc:sldMk cId="0" sldId="265"/>
            <ac:spMk id="3" creationId="{00000000-0000-0000-0000-000000000000}"/>
          </ac:spMkLst>
        </pc:spChg>
        <pc:spChg chg="mod">
          <ac:chgData name="Tushar Bhardwaj" userId="42228ff485f88e31" providerId="LiveId" clId="{9F433EB7-D8F1-4E90-8130-14ECAA018AF0}" dt="2026-10-26T15:18:33.923" v="25" actId="255"/>
          <ac:spMkLst>
            <pc:docMk/>
            <pc:sldMk cId="0" sldId="265"/>
            <ac:spMk id="6" creationId="{00000000-0000-0000-0000-000000000000}"/>
          </ac:spMkLst>
        </pc:spChg>
        <pc:spChg chg="mod">
          <ac:chgData name="Tushar Bhardwaj" userId="42228ff485f88e31" providerId="LiveId" clId="{9F433EB7-D8F1-4E90-8130-14ECAA018AF0}" dt="2026-10-26T15:17:59.793" v="23" actId="20577"/>
          <ac:spMkLst>
            <pc:docMk/>
            <pc:sldMk cId="0" sldId="265"/>
            <ac:spMk id="11" creationId="{00000000-0000-0000-0000-000000000000}"/>
          </ac:spMkLst>
        </pc:spChg>
        <pc:spChg chg="mod">
          <ac:chgData name="Tushar Bhardwaj" userId="42228ff485f88e31" providerId="LiveId" clId="{9F433EB7-D8F1-4E90-8130-14ECAA018AF0}" dt="2026-10-26T15:18:23.745" v="24" actId="255"/>
          <ac:spMkLst>
            <pc:docMk/>
            <pc:sldMk cId="0" sldId="265"/>
            <ac:spMk id="1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B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3200400" cy="457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00B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202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B9F1"/>
                </a:solidFill>
                <a:latin typeface="Calibri"/>
              </a:defRPr>
            </a:pPr>
            <a:r>
              <a:rPr dirty="0"/>
              <a:t>TRACK 1  |  MERCHANT GROWTH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480"/>
              </a:lnSpc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DukaanSaathi</a:t>
            </a:r>
            <a:r>
              <a:rPr dirty="0"/>
              <a:t>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00D4AA"/>
                </a:solidFill>
                <a:latin typeface="Calibri"/>
              </a:defRPr>
            </a:pPr>
            <a:r>
              <a:t>दुकान साथी  —  हर दुकान का अपना AI साथी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94A3B8"/>
                </a:solidFill>
                <a:latin typeface="Calibri"/>
              </a:defRPr>
            </a:pPr>
            <a:r>
              <a:t>The AI-Powered Business Copilot That Transforms Every Paytm Merchant's</a:t>
            </a:r>
            <a:br/>
            <a:r>
              <a:t>Transaction Data Into Actionable Growth Strategies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572000"/>
            <a:ext cx="1828800" cy="38100"/>
          </a:xfrm>
          <a:prstGeom prst="rect">
            <a:avLst/>
          </a:prstGeom>
          <a:solidFill>
            <a:srgbClr val="00B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4937760"/>
            <a:ext cx="2011680" cy="3657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00B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4963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B9F1"/>
                </a:solidFill>
                <a:latin typeface="Calibri"/>
              </a:defRPr>
            </a:pPr>
            <a:r>
              <a:t>Voice-First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4937760"/>
            <a:ext cx="2011680" cy="3657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80" y="4963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D4AA"/>
                </a:solidFill>
                <a:latin typeface="Calibri"/>
              </a:defRPr>
            </a:pPr>
            <a:r>
              <a:t>Demand Forecasting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4937760"/>
            <a:ext cx="2011680" cy="3657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F7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0640" y="4963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A2F"/>
                </a:solidFill>
                <a:latin typeface="Calibri"/>
              </a:defRPr>
            </a:pPr>
            <a:r>
              <a:t>Smart Inventory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4937760"/>
            <a:ext cx="2011680" cy="3657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0" y="4963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855F7"/>
                </a:solidFill>
                <a:latin typeface="Calibri"/>
              </a:defRPr>
            </a:pPr>
            <a:r>
              <a:t>Customer Retention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4937760"/>
            <a:ext cx="2011680" cy="3657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9760" y="4963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2C55E"/>
                </a:solidFill>
                <a:latin typeface="Calibri"/>
              </a:defRPr>
            </a:pPr>
            <a:r>
              <a:t>Agentic Actions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0" y="6126480"/>
            <a:ext cx="12191695" cy="731520"/>
          </a:xfrm>
          <a:prstGeom prst="roundRect">
            <a:avLst>
              <a:gd name="adj" fmla="val 5000"/>
            </a:avLst>
          </a:prstGeom>
          <a:solidFill>
            <a:srgbClr val="08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19" y="6236208"/>
            <a:ext cx="4835903" cy="28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rPr sz="1600" dirty="0"/>
              <a:t>Paytm Build for India AI Hackathon — Delhi Edition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1823" y="6236208"/>
            <a:ext cx="4948177" cy="28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rPr sz="1600" dirty="0"/>
              <a:t>Team Lead: Tushar Bhardwaj  |  NIT Kurukshetra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F4444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30M+ Paytm Merchants Sit on a Data Goldmine They Can't 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10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94A3B8"/>
                </a:solidFill>
                <a:latin typeface="Calibri"/>
              </a:defRPr>
            </a:pPr>
            <a:r>
              <a:rPr dirty="0"/>
              <a:t>Small merchants generate rich transaction data daily — but have zero tools to turn it into business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2423160"/>
            <a:ext cx="54864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606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Zero Data Literacy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632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85%+ merchants can't</a:t>
            </a:r>
            <a:br/>
            <a:r>
              <a:t>interpret their own sales</a:t>
            </a:r>
            <a:br/>
            <a:r>
              <a:t>patterns or seasonal trends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28600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2700">
            <a:solidFill>
              <a:srgbClr val="FF7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0" y="2423160"/>
            <a:ext cx="548640" cy="381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2606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Blind Inventory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0632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Rs.32,000 Cr annual waste</a:t>
            </a:r>
            <a:br/>
            <a:r>
              <a:t>from overstocking in</a:t>
            </a:r>
            <a:br/>
            <a:r>
              <a:t>Indian retail alone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28600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2423160"/>
            <a:ext cx="548640" cy="381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2606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No Demand Forecasting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0632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Merchants rely on gut feel,</a:t>
            </a:r>
            <a:br/>
            <a:r>
              <a:t>miss festival &amp; weather</a:t>
            </a:r>
            <a:br/>
            <a:r>
              <a:t>driven demand spikes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9768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" y="4434840"/>
            <a:ext cx="548640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617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Customer Churn Invisible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0749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No way to know which</a:t>
            </a:r>
            <a:br/>
            <a:r>
              <a:t>regular customers are</a:t>
            </a:r>
            <a:br/>
            <a:r>
              <a:t>slipping away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29768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2700">
            <a:solidFill>
              <a:srgbClr val="00B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0" y="4434840"/>
            <a:ext cx="548640" cy="38100"/>
          </a:xfrm>
          <a:prstGeom prst="rect">
            <a:avLst/>
          </a:prstGeom>
          <a:solidFill>
            <a:srgbClr val="00B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63440" y="4617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No Growth Roadmap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0749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No structured path from</a:t>
            </a:r>
            <a:br/>
            <a:r>
              <a:t>Rs.10K/month to Rs.1L/month</a:t>
            </a:r>
            <a:br/>
            <a:r>
              <a:t>— merchants plateau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29768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29600" y="4434840"/>
            <a:ext cx="54864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21040" y="4617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Pricing Guesswork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50749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No data-driven approach</a:t>
            </a:r>
            <a:br/>
            <a:r>
              <a:t>to pricing, competitor</a:t>
            </a:r>
            <a:br/>
            <a:r>
              <a:t>awareness, or discounts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6263640"/>
            <a:ext cx="10698480" cy="457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629107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C107"/>
                </a:solidFill>
                <a:latin typeface="Calibri"/>
              </a:defRPr>
            </a:pPr>
            <a:r>
              <a:t>CORE INSIGHT:  Paytm has the richest merchant transaction data in India. The problem isn't data — it's that this goldmine is invisible to merchants.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B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B9F1"/>
                </a:solidFill>
                <a:latin typeface="Calibri"/>
              </a:defRPr>
            </a:pPr>
            <a:r>
              <a:t>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00B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DukaanSaathi AI: 4-Module AI Copilot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94A3B8"/>
                </a:solidFill>
                <a:latin typeface="Calibri"/>
              </a:defRPr>
            </a:pPr>
            <a:r>
              <a:t>A multi-agent AI system with 4 specialized intelligence modules, unified by a Hindi-first conversational voice interface.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2743200" cy="384048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9050">
            <a:solidFill>
              <a:srgbClr val="00B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2743200" cy="50800"/>
          </a:xfrm>
          <a:prstGeom prst="rect">
            <a:avLst/>
          </a:prstGeom>
          <a:solidFill>
            <a:srgbClr val="00B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2514600"/>
            <a:ext cx="411480" cy="411480"/>
          </a:xfrm>
          <a:prstGeom prst="roundRect">
            <a:avLst>
              <a:gd name="adj" fmla="val 5000"/>
            </a:avLst>
          </a:prstGeom>
          <a:solidFill>
            <a:srgbClr val="00B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5328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514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Demand Oracle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B9F1"/>
                </a:solidFill>
                <a:latin typeface="Calibri"/>
              </a:defRPr>
            </a:pPr>
            <a:r>
              <a:t>"Kal kya bikega?"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337560"/>
            <a:ext cx="246888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347472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Hyper-local demand forecasting</a:t>
            </a:r>
            <a:br/>
            <a:r>
              <a:t>with weather, festival &amp; event</a:t>
            </a:r>
            <a:br/>
            <a:r>
              <a:t>awareness. Predicts what will</a:t>
            </a:r>
            <a:br/>
            <a:r>
              <a:t>sell before the merchant asks.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5486400"/>
            <a:ext cx="2468880" cy="3657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00B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55138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B9F1"/>
                </a:solidFill>
                <a:latin typeface="Calibri"/>
              </a:defRPr>
            </a:pPr>
            <a:r>
              <a:t>XGBoost + LSTM Hybrid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2286000"/>
            <a:ext cx="2743200" cy="384048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37560" y="2286000"/>
            <a:ext cx="27432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474720" y="2514600"/>
            <a:ext cx="411480" cy="411480"/>
          </a:xfrm>
          <a:prstGeom prst="roundRect">
            <a:avLst>
              <a:gd name="adj" fmla="val 5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0" y="25328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40" y="2514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Smart Inventory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0175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D4AA"/>
                </a:solidFill>
                <a:latin typeface="Calibri"/>
              </a:defRPr>
            </a:pPr>
            <a:r>
              <a:t>"Kya stock karna hai?"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3337560"/>
            <a:ext cx="246888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74720" y="347472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Camera-based shelf scanning +</a:t>
            </a:r>
            <a:br/>
            <a:r>
              <a:t>knowledge graph recommendations.</a:t>
            </a:r>
            <a:br/>
            <a:r>
              <a:t>Snap a photo — AI tells you</a:t>
            </a:r>
            <a:br/>
            <a:r>
              <a:t>what to reorder &amp; when.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0" y="5486400"/>
            <a:ext cx="2468880" cy="3657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74720" y="55138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D4AA"/>
                </a:solidFill>
                <a:latin typeface="Calibri"/>
              </a:defRPr>
            </a:pPr>
            <a:r>
              <a:t>YOLO + Knowledge Graphs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286000"/>
            <a:ext cx="2743200" cy="384048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9050">
            <a:solidFill>
              <a:srgbClr val="FF7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2286000"/>
            <a:ext cx="2743200" cy="508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355080" y="2514600"/>
            <a:ext cx="411480" cy="411480"/>
          </a:xfrm>
          <a:prstGeom prst="roundRect">
            <a:avLst>
              <a:gd name="adj" fmla="val 5000"/>
            </a:avLst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5080" y="25328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514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Customer Retention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0175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7A2F"/>
                </a:solidFill>
                <a:latin typeface="Calibri"/>
              </a:defRPr>
            </a:pPr>
            <a:r>
              <a:t>"Kaun chhod raha hai?"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3337560"/>
            <a:ext cx="246888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55080" y="347472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RFM segmentation + churn</a:t>
            </a:r>
            <a:br/>
            <a:r>
              <a:t>prediction. Identifies at-risk</a:t>
            </a:r>
            <a:br/>
            <a:r>
              <a:t>customers &amp; auto-generates</a:t>
            </a:r>
            <a:br/>
            <a:r>
              <a:t>win-back cashback offers.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5486400"/>
            <a:ext cx="2468880" cy="3657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FF7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55080" y="55138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7A2F"/>
                </a:solidFill>
                <a:latin typeface="Calibri"/>
              </a:defRPr>
            </a:pPr>
            <a:r>
              <a:t>K-Means + Survival Analysis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98280" y="2286000"/>
            <a:ext cx="2743200" cy="384048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098280" y="2286000"/>
            <a:ext cx="274320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235440" y="2514600"/>
            <a:ext cx="411480" cy="411480"/>
          </a:xfrm>
          <a:prstGeom prst="roundRect">
            <a:avLst>
              <a:gd name="adj" fmla="val 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35440" y="25328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38360" y="2514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Growth Path Navigator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30175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C55E"/>
                </a:solidFill>
                <a:latin typeface="Calibri"/>
              </a:defRPr>
            </a:pPr>
            <a:r>
              <a:t>"Aage kaise badhein?"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35440" y="3337560"/>
            <a:ext cx="246888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235440" y="347472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Gamified milestone roadmap</a:t>
            </a:r>
            <a:br/>
            <a:r>
              <a:t>with peer benchmarking.</a:t>
            </a:r>
            <a:br/>
            <a:r>
              <a:t>MerchantMind Score (0-900)</a:t>
            </a:r>
            <a:br/>
            <a:r>
              <a:t>for credit &amp; growth tracking.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35440" y="5486400"/>
            <a:ext cx="2468880" cy="3657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235440" y="55138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2C55E"/>
                </a:solidFill>
                <a:latin typeface="Calibri"/>
              </a:defRPr>
            </a:pPr>
            <a:r>
              <a:t>Collaborative Filtering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6309360"/>
            <a:ext cx="11247120" cy="411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00B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0080" y="63367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B9F1"/>
                </a:solidFill>
                <a:latin typeface="Calibri"/>
              </a:defRPr>
            </a:pPr>
            <a:r>
              <a:t>ALL MODULES ACCESSIBLE VIA:   Voice (Hindi/Regional)  |  Text Chat  |  Camera Scan  |  Push Notifications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D4AA"/>
                </a:solidFill>
                <a:latin typeface="Calibri"/>
              </a:defRPr>
            </a:pPr>
            <a:r>
              <a:t>WHAT MAKES US DIFFERENT — 3 HERO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3566160" cy="521208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9050">
            <a:solidFill>
              <a:srgbClr val="00B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3566160" cy="50800"/>
          </a:xfrm>
          <a:prstGeom prst="rect">
            <a:avLst/>
          </a:prstGeom>
          <a:solidFill>
            <a:srgbClr val="00B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Voice-First AI Copilot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B9F1"/>
                </a:solidFill>
                <a:latin typeface="Calibri"/>
              </a:defRPr>
            </a:pPr>
            <a:r>
              <a:t>Sarvam AI Speech-to-Speech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011680"/>
            <a:ext cx="283464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Merchant SPEAKS in Hindi or any</a:t>
            </a:r>
            <a:br/>
            <a:r>
              <a:t>regional language. AI SPEAKS back</a:t>
            </a:r>
            <a:br/>
            <a:r>
              <a:t>with actionable business advice.</a:t>
            </a:r>
            <a:br/>
            <a:br/>
            <a:r>
              <a:t>No typing. No dashboards.</a:t>
            </a:r>
            <a:br/>
            <a:r>
              <a:t>No digital literacy needed.</a:t>
            </a:r>
            <a:br/>
            <a:br/>
            <a:r>
              <a:t>"Bhaiya, aaj kya bikega?"</a:t>
            </a:r>
            <a:br/>
            <a:r>
              <a:t>AI: "Tushar ji, aaj barish ka</a:t>
            </a:r>
            <a:br/>
            <a:r>
              <a:t>forecast hai. Chai patti aur</a:t>
            </a:r>
            <a:br/>
            <a:r>
              <a:t>pakoda ingredients rakhiye —</a:t>
            </a:r>
            <a:br/>
            <a:r>
              <a:t>pichli barish mein aapki bikri</a:t>
            </a:r>
            <a:br/>
            <a:r>
              <a:t>35% badhi thi."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760720"/>
            <a:ext cx="2834640" cy="320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00B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57790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B9F1"/>
                </a:solidFill>
                <a:latin typeface="Calibri"/>
              </a:defRPr>
            </a:pPr>
            <a:r>
              <a:t>Powered by Sarvam AI (Official Partner)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097280"/>
            <a:ext cx="3566160" cy="521208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9050">
            <a:solidFill>
              <a:srgbClr val="FF7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80" y="1097280"/>
            <a:ext cx="3566160" cy="508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1280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Snap-to-Stock Scanning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6459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A2F"/>
                </a:solidFill>
                <a:latin typeface="Calibri"/>
              </a:defRPr>
            </a:pPr>
            <a:r>
              <a:t>YOLO + Gemini Vision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2011680"/>
            <a:ext cx="283464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210312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Merchant takes a PHOTO of their</a:t>
            </a:r>
            <a:br/>
            <a:r>
              <a:t>shop shelf with phone camera.</a:t>
            </a:r>
            <a:br/>
            <a:br/>
            <a:r>
              <a:t>AI instantly identifies products,</a:t>
            </a:r>
            <a:br/>
            <a:r>
              <a:t>estimates stock levels, and</a:t>
            </a:r>
            <a:br/>
            <a:r>
              <a:t>cross-references with demand</a:t>
            </a:r>
            <a:br/>
            <a:r>
              <a:t>forecast to generate alerts:</a:t>
            </a:r>
            <a:br/>
            <a:br/>
            <a:r>
              <a:t>  Maggi — 20% stock LEFT</a:t>
            </a:r>
            <a:br/>
            <a:r>
              <a:t>  High demand predicted (weekend)</a:t>
            </a:r>
            <a:br/>
            <a:r>
              <a:t>  REORDER 3 cartons by tomorrow</a:t>
            </a:r>
            <a:br/>
            <a:br/>
            <a:r>
              <a:t>  Kurkure — OUT OF STOCK</a:t>
            </a:r>
            <a:br/>
            <a:r>
              <a:t>  You lost Rs.800 last time</a:t>
            </a:r>
            <a:br/>
            <a:r>
              <a:t>  this went empty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5760720"/>
            <a:ext cx="2834640" cy="320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FF7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0" y="57790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7A2F"/>
                </a:solidFill>
                <a:latin typeface="Calibri"/>
              </a:defRPr>
            </a:pPr>
            <a:r>
              <a:t>Zero Friction Inventory — No Manual Entry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097280"/>
            <a:ext cx="3566160" cy="521208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1097280"/>
            <a:ext cx="356616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0" y="1280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Agentic Auto-Actions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6459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2C55E"/>
                </a:solidFill>
                <a:latin typeface="Calibri"/>
              </a:defRPr>
            </a:pPr>
            <a:r>
              <a:t>LangChain ReAct + Tool Use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2011680"/>
            <a:ext cx="283464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210312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AI doesn't just SUGGEST.</a:t>
            </a:r>
            <a:br/>
            <a:r>
              <a:t>It ACTS with one-tap approval:</a:t>
            </a:r>
            <a:br/>
            <a:br/>
            <a:r>
              <a:t>  AUTO-REORDER: Detects low</a:t>
            </a:r>
            <a:br/>
            <a:r>
              <a:t>  stock, sends WhatsApp order</a:t>
            </a:r>
            <a:br/>
            <a:r>
              <a:t>  to saved supplier contact</a:t>
            </a:r>
            <a:br/>
            <a:br/>
            <a:r>
              <a:t>  WIN-BACK OFFERS: Detects</a:t>
            </a:r>
            <a:br/>
            <a:r>
              <a:t>  churning customer, sends</a:t>
            </a:r>
            <a:br/>
            <a:r>
              <a:t>  Rs.20 cashback via Paytm</a:t>
            </a:r>
            <a:br/>
            <a:br/>
            <a:r>
              <a:t>  CASH FLOW ALERT: Predicts</a:t>
            </a:r>
            <a:br/>
            <a:r>
              <a:t>  shortfall next week, suggests</a:t>
            </a:r>
            <a:br/>
            <a:r>
              <a:t>  Paytm Business Loan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5760720"/>
            <a:ext cx="2834640" cy="320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040" y="57790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2C55E"/>
                </a:solidFill>
                <a:latin typeface="Calibri"/>
              </a:defRPr>
            </a:pPr>
            <a:r>
              <a:t>Human-in-the-Loop: Merchant Always Approves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A855F7"/>
                </a:solidFill>
                <a:latin typeface="Calibri"/>
              </a:defRPr>
            </a:pPr>
            <a:r>
              <a:t>ADDITIONAL INTELLIGENCE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3 More Capabilities That Complete the AI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Beyond forecasting &amp; inventory, DukaanSaathi AI adds financial intelligence, credit scoring, and competitive awareness.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3611880" cy="429768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3611880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411480" cy="411480"/>
          </a:xfrm>
          <a:prstGeom prst="roundRect">
            <a:avLst>
              <a:gd name="adj" fmla="val 5000"/>
            </a:avLst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3500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31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Predictive Cash Flow</a:t>
            </a:r>
            <a:br/>
            <a:r>
              <a:t>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C107"/>
                </a:solidFill>
                <a:latin typeface="Calibri"/>
              </a:defRPr>
            </a:pPr>
            <a:r>
              <a:t>"Will I have enough money next week?"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00400"/>
            <a:ext cx="32004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33756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rPr dirty="0"/>
              <a:t>Predicts cash crunches BEFORE</a:t>
            </a:r>
            <a:br>
              <a:rPr dirty="0"/>
            </a:br>
            <a:r>
              <a:rPr dirty="0"/>
              <a:t>they happen by analyzing:</a:t>
            </a:r>
            <a:br>
              <a:rPr dirty="0"/>
            </a:br>
            <a:br>
              <a:rPr dirty="0"/>
            </a:br>
            <a:r>
              <a:rPr dirty="0"/>
              <a:t>  Sales trend forecasts</a:t>
            </a:r>
            <a:br>
              <a:rPr dirty="0"/>
            </a:br>
            <a:r>
              <a:rPr dirty="0"/>
              <a:t>  Recurring expenses (rent, EMIs)</a:t>
            </a:r>
            <a:br>
              <a:rPr dirty="0"/>
            </a:br>
            <a:r>
              <a:rPr dirty="0"/>
              <a:t>  Supplier payment cycles</a:t>
            </a:r>
            <a:br>
              <a:rPr dirty="0"/>
            </a:br>
            <a:br>
              <a:rPr dirty="0"/>
            </a:br>
            <a:r>
              <a:rPr dirty="0"/>
              <a:t>When shortfall is predicted:</a:t>
            </a:r>
            <a:br>
              <a:rPr dirty="0"/>
            </a:br>
            <a:r>
              <a:rPr dirty="0"/>
              <a:t>  Alerts merchant 7 days early</a:t>
            </a:r>
            <a:br>
              <a:rPr dirty="0"/>
            </a:br>
            <a:r>
              <a:rPr dirty="0"/>
              <a:t>  Suggests Paytm Business Loan</a:t>
            </a:r>
            <a:br>
              <a:rPr dirty="0"/>
            </a:br>
            <a:r>
              <a:rPr dirty="0"/>
              <a:t>  (pre-approved, one-tap apply)</a:t>
            </a:r>
            <a:br>
              <a:rPr dirty="0"/>
            </a:br>
            <a:br>
              <a:rPr dirty="0"/>
            </a:br>
            <a:r>
              <a:rPr dirty="0"/>
              <a:t>No merchant in India has access</a:t>
            </a:r>
            <a:br>
              <a:rPr dirty="0"/>
            </a:br>
            <a:r>
              <a:rPr dirty="0"/>
              <a:t>to cash flow forecasting today.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897880"/>
            <a:ext cx="3200400" cy="320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59161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C107"/>
                </a:solidFill>
                <a:latin typeface="Calibri"/>
              </a:defRPr>
            </a:pPr>
            <a:r>
              <a:t>Monte Carlo Simulation + Recurrence Detection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2103120"/>
            <a:ext cx="3611880" cy="429768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97680" y="2103120"/>
            <a:ext cx="3611880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480560" y="2331720"/>
            <a:ext cx="411480" cy="411480"/>
          </a:xfrm>
          <a:prstGeom prst="roundRect">
            <a:avLst>
              <a:gd name="adj" fmla="val 5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80560" y="23500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331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MerchantMind Score</a:t>
            </a:r>
            <a:br/>
            <a:r>
              <a:t>(0 - 900)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880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855F7"/>
                </a:solidFill>
                <a:latin typeface="Calibri"/>
              </a:defRPr>
            </a:pPr>
            <a:r>
              <a:t>AI-Generated Merchant Credit Score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3200400"/>
            <a:ext cx="32004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80560" y="333756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5-dimension health score:</a:t>
            </a:r>
            <a:br/>
            <a:br/>
            <a:r>
              <a:t>  Revenue Consistency (25%)</a:t>
            </a:r>
            <a:br/>
            <a:r>
              <a:t>  Customer Loyalty (20%)</a:t>
            </a:r>
            <a:br/>
            <a:r>
              <a:t>  Transaction Diversity (15%)</a:t>
            </a:r>
            <a:br/>
            <a:r>
              <a:t>  Growth Velocity (25%)</a:t>
            </a:r>
            <a:br/>
            <a:r>
              <a:t>  Digital Maturity (15%)</a:t>
            </a:r>
            <a:br/>
            <a:br/>
            <a:r>
              <a:t>750+ Score unlocks:</a:t>
            </a:r>
            <a:br/>
            <a:r>
              <a:t>  Lower interest Paytm Loans</a:t>
            </a:r>
            <a:br/>
            <a:r>
              <a:t>  'Trusted Merchant' badge</a:t>
            </a:r>
            <a:br/>
            <a:r>
              <a:t>  Priority support</a:t>
            </a:r>
            <a:br/>
            <a:br/>
            <a:r>
              <a:t>Creates a NEW financial product.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5897880"/>
            <a:ext cx="3200400" cy="320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80560" y="59161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A855F7"/>
                </a:solidFill>
                <a:latin typeface="Calibri"/>
              </a:defRPr>
            </a:pPr>
            <a:r>
              <a:t>XGBoost Scoring + SHAP Explainability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2103120"/>
            <a:ext cx="3611880" cy="429768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38160" y="2103120"/>
            <a:ext cx="361188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2331720"/>
            <a:ext cx="411480" cy="411480"/>
          </a:xfrm>
          <a:prstGeom prst="roundRect">
            <a:avLst>
              <a:gd name="adj" fmla="val 5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21040" y="23500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2331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Hyperlocal Competitor</a:t>
            </a:r>
            <a:br/>
            <a:r>
              <a:t>Radar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2880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0D4AA"/>
                </a:solidFill>
                <a:latin typeface="Calibri"/>
              </a:defRPr>
            </a:pPr>
            <a:r>
              <a:t>"What's working for shops near you?"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3200400"/>
            <a:ext cx="32004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21040" y="333756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Anonymized, aggregated intel</a:t>
            </a:r>
            <a:br/>
            <a:r>
              <a:t>from nearby same-category shops:</a:t>
            </a:r>
            <a:br/>
            <a:br/>
            <a:r>
              <a:t>  Trending products in area</a:t>
            </a:r>
            <a:br/>
            <a:r>
              <a:t>  Top 10% peer benchmarks</a:t>
            </a:r>
            <a:br/>
            <a:r>
              <a:t>  New opportunity alerts</a:t>
            </a:r>
            <a:br/>
            <a:r>
              <a:t>  Competitive threat warnings</a:t>
            </a:r>
            <a:br/>
            <a:br/>
            <a:r>
              <a:t>Example:</a:t>
            </a:r>
            <a:br/>
            <a:r>
              <a:t>  '3 kiranas near you started</a:t>
            </a:r>
            <a:br/>
            <a:r>
              <a:t>   selling organic atta and saw</a:t>
            </a:r>
            <a:br/>
            <a:r>
              <a:t>   34% higher revenue this month'</a:t>
            </a:r>
            <a:br/>
            <a:br/>
            <a:r>
              <a:t>Privacy-safe aggregated data only.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21040" y="5897880"/>
            <a:ext cx="3200400" cy="320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21040" y="59161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D4AA"/>
                </a:solidFill>
                <a:latin typeface="Calibri"/>
              </a:defRPr>
            </a:pPr>
            <a:r>
              <a:t>H3 Geospatial + Z-Score Anomaly Detection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6492240"/>
            <a:ext cx="11247120" cy="274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6510528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C107"/>
                </a:solidFill>
                <a:latin typeface="Calibri"/>
              </a:defRPr>
            </a:pPr>
            <a:r>
              <a:t>4 Core Modules + 6 Enhancements = Complete AI Business Copilot for 30M+ Paytm Merchants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A855F7"/>
                </a:solidFill>
                <a:latin typeface="Calibri"/>
              </a:defRPr>
            </a:pPr>
            <a:r>
              <a:t>TECHNOLOGY / 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End-to-End AI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1828800" cy="1051560"/>
          </a:xfrm>
          <a:prstGeom prst="roundRect">
            <a:avLst>
              <a:gd name="adj" fmla="val 5000"/>
            </a:avLst>
          </a:prstGeom>
          <a:solidFill>
            <a:srgbClr val="00B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INTERFACE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1554480"/>
            <a:ext cx="2286000" cy="105156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2700">
            <a:solidFill>
              <a:srgbClr val="00B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06040" y="1645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Sarvam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0116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Indic ASR + TTS</a:t>
            </a:r>
            <a:br/>
            <a:r>
              <a:t>Hindi-first Voice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1554480"/>
            <a:ext cx="2286000" cy="105156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2700">
            <a:solidFill>
              <a:srgbClr val="00B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74920" y="1645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YOLO + Gemini 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20116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Camera Shelf</a:t>
            </a:r>
            <a:br/>
            <a:r>
              <a:t>Scanning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554480"/>
            <a:ext cx="2286000" cy="105156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2700">
            <a:solidFill>
              <a:srgbClr val="00B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43800" y="1645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Next.js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0116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Interactive Web</a:t>
            </a:r>
            <a:br/>
            <a:r>
              <a:t>Visualization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0" y="1554480"/>
            <a:ext cx="2286000" cy="105156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2700">
            <a:solidFill>
              <a:srgbClr val="00B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12680" y="1645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WhatsApp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80" y="20116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Business Bot</a:t>
            </a:r>
            <a:br/>
            <a:r>
              <a:t>Integration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834640"/>
            <a:ext cx="1828800" cy="1051560"/>
          </a:xfrm>
          <a:prstGeom prst="roundRect">
            <a:avLst>
              <a:gd name="adj" fmla="val 5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29718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AI ORCHESTRATION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68880" y="2834640"/>
            <a:ext cx="2286000" cy="105156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606040" y="2926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LangChain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32918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Multi-Agent</a:t>
            </a:r>
            <a:br/>
            <a:r>
              <a:t>Orchestration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37760" y="2834640"/>
            <a:ext cx="2286000" cy="105156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74920" y="2926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Google Gemini 2.5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32918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Reasoning &amp;</a:t>
            </a:r>
            <a:br/>
            <a:r>
              <a:t>Generation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2834640"/>
            <a:ext cx="2286000" cy="105156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43800" y="2926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ReAct Agents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32918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Agentic Tool-Use</a:t>
            </a:r>
            <a:br/>
            <a:r>
              <a:t>Actions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20" y="2834640"/>
            <a:ext cx="2286000" cy="105156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12680" y="2926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ChromaDB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32918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Vector Store for</a:t>
            </a:r>
            <a:br/>
            <a:r>
              <a:t>Semantic Search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114800"/>
            <a:ext cx="1828800" cy="1051560"/>
          </a:xfrm>
          <a:prstGeom prst="roundRect">
            <a:avLst>
              <a:gd name="adj" fmla="val 5000"/>
            </a:avLst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42519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ML ENGINE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468880" y="4114800"/>
            <a:ext cx="2286000" cy="105156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2700">
            <a:solidFill>
              <a:srgbClr val="FF7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606040" y="4206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XGBoost + LSTM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06040" y="4572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Demand</a:t>
            </a:r>
            <a:br/>
            <a:r>
              <a:t>Forecasting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37760" y="4114800"/>
            <a:ext cx="2286000" cy="105156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2700">
            <a:solidFill>
              <a:srgbClr val="FF7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74920" y="4206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K-Means + RFM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74920" y="4572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Customer</a:t>
            </a:r>
            <a:br/>
            <a:r>
              <a:t>Segmentation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06640" y="4114800"/>
            <a:ext cx="2286000" cy="105156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2700">
            <a:solidFill>
              <a:srgbClr val="FF7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543800" y="4206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NetworkX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43800" y="4572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Product Knowledge</a:t>
            </a:r>
            <a:br/>
            <a:r>
              <a:t>Graphs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75520" y="4114800"/>
            <a:ext cx="2286000" cy="105156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2700">
            <a:solidFill>
              <a:srgbClr val="FF7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012680" y="4206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SHAP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80" y="4572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Explainable AI</a:t>
            </a:r>
            <a:br/>
            <a:r>
              <a:t>Score Attribution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394960"/>
            <a:ext cx="1828800" cy="1051560"/>
          </a:xfrm>
          <a:prstGeom prst="roundRect">
            <a:avLst>
              <a:gd name="adj" fmla="val 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7200" y="55321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468880" y="5394960"/>
            <a:ext cx="2286000" cy="105156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606040" y="5486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06040" y="58521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REST + SSE</a:t>
            </a:r>
            <a:br/>
            <a:r>
              <a:t>Streaming Backend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937760" y="5394960"/>
            <a:ext cx="2286000" cy="105156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074920" y="5486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74920" y="58521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TimescaleDB for</a:t>
            </a:r>
            <a:br/>
            <a:r>
              <a:t>Time-Series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06640" y="5394960"/>
            <a:ext cx="2286000" cy="105156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543800" y="5486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43800" y="58521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Containerized</a:t>
            </a:r>
            <a:br/>
            <a:r>
              <a:t>Deployment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875520" y="5394960"/>
            <a:ext cx="2286000" cy="105156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012680" y="5486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Azure Cloud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12680" y="58521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Production</a:t>
            </a:r>
            <a:br/>
            <a:r>
              <a:t>Hosting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6400800"/>
            <a:ext cx="11247120" cy="3657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40080" y="641908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C107"/>
                </a:solidFill>
                <a:latin typeface="Calibri"/>
              </a:defRPr>
            </a:pPr>
            <a:r>
              <a:t>STRATEGIC:  Sarvam AI (Official Hackathon AI Partner) used for Hindi-first voice interface — Indic ASR + TTS models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C107"/>
                </a:solidFill>
                <a:latin typeface="Calibri"/>
              </a:defRPr>
            </a:pPr>
            <a:r>
              <a:t>UNIQUE SELLING PROPOSITION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Why No Competitor Can Match DukaanSaathi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611880" cy="201168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2700">
            <a:solidFill>
              <a:srgbClr val="00B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926080" y="1691640"/>
            <a:ext cx="1005840" cy="274320"/>
          </a:xfrm>
          <a:prstGeom prst="roundRect">
            <a:avLst>
              <a:gd name="adj" fmla="val 5000"/>
            </a:avLst>
          </a:prstGeom>
          <a:solidFill>
            <a:srgbClr val="00B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0" y="170078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Accessibility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Hindi-First Voice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914400" cy="25400"/>
          </a:xfrm>
          <a:prstGeom prst="rect">
            <a:avLst/>
          </a:prstGeom>
          <a:solidFill>
            <a:srgbClr val="00B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2402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Not a dashboard merchants won't use.</a:t>
            </a:r>
            <a:br/>
            <a:r>
              <a:t>A voice assistant that speaks their</a:t>
            </a:r>
            <a:br/>
            <a:r>
              <a:t>language — literally.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554480"/>
            <a:ext cx="3611880" cy="201168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720840" y="1691640"/>
            <a:ext cx="1005840" cy="274320"/>
          </a:xfrm>
          <a:prstGeom prst="roundRect">
            <a:avLst>
              <a:gd name="adj" fmla="val 5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20840" y="170078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Hyper-Local Context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2103120"/>
            <a:ext cx="9144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0" y="22402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Combines weather + festivals + local</a:t>
            </a:r>
            <a:br/>
            <a:r>
              <a:t>events + neighborhood trends at</a:t>
            </a:r>
            <a:br/>
            <a:r>
              <a:t>individual merchant level.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554480"/>
            <a:ext cx="3611880" cy="201168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2700">
            <a:solidFill>
              <a:srgbClr val="FF7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15600" y="1691640"/>
            <a:ext cx="1005840" cy="274320"/>
          </a:xfrm>
          <a:prstGeom prst="roundRect">
            <a:avLst>
              <a:gd name="adj" fmla="val 5000"/>
            </a:avLst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0" y="170078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Innovation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Camera Shelf Scanning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2103120"/>
            <a:ext cx="914400" cy="254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0" y="22402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Snap a photo of your shelf — AI tells</a:t>
            </a:r>
            <a:br/>
            <a:r>
              <a:t>you what's low, what to reorder.</a:t>
            </a:r>
            <a:br/>
            <a:r>
              <a:t>Zero manual data entry.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840480"/>
            <a:ext cx="3611880" cy="201168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926080" y="3977640"/>
            <a:ext cx="1005840" cy="274320"/>
          </a:xfrm>
          <a:prstGeom prst="roundRect">
            <a:avLst>
              <a:gd name="adj" fmla="val 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26080" y="398678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Automation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977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Agentic Actions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389120"/>
            <a:ext cx="914400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45262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AI doesn't just suggest — it auto-orders</a:t>
            </a:r>
            <a:br/>
            <a:r>
              <a:t>from suppliers, sends customer offers,</a:t>
            </a:r>
            <a:br/>
            <a:r>
              <a:t>with one-tap approval.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51960" y="3840480"/>
            <a:ext cx="3611880" cy="201168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720840" y="3977640"/>
            <a:ext cx="1005840" cy="274320"/>
          </a:xfrm>
          <a:prstGeom prst="roundRect">
            <a:avLst>
              <a:gd name="adj" fmla="val 5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20840" y="398678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Fintech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3977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MerchantMind Score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34840" y="4389120"/>
            <a:ext cx="914400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434840" y="45262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AI-generated credit score (0-900)</a:t>
            </a:r>
            <a:br/>
            <a:r>
              <a:t>unlocks Paytm Business Loans at</a:t>
            </a:r>
            <a:br/>
            <a:r>
              <a:t>better rates. New financial product.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3840480"/>
            <a:ext cx="3611880" cy="201168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515600" y="3977640"/>
            <a:ext cx="1005840" cy="274320"/>
          </a:xfrm>
          <a:prstGeom prst="roundRect">
            <a:avLst>
              <a:gd name="adj" fmla="val 5000"/>
            </a:avLst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515600" y="398678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Business Fit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977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Paytm Ecosystem Synergy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4389120"/>
            <a:ext cx="914400" cy="254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29600" y="45262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Naturally drives adoption of Paytm</a:t>
            </a:r>
            <a:br/>
            <a:r>
              <a:t>Postpaid, Lending, Insurance, Ads —</a:t>
            </a:r>
            <a:br/>
            <a:r>
              <a:t>increasing Paytm's own revenue.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6217920"/>
            <a:ext cx="11247120" cy="502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" y="62636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C107"/>
                </a:solidFill>
                <a:latin typeface="Calibri"/>
              </a:defRPr>
            </a:pPr>
            <a:r>
              <a:t>vs. Traditional POS Analytics: No forecasting, no voice, no camera.  |  vs. Generic AI Chatbots: No merchant context, no agentic actions, no Paytm integration.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2C55E"/>
                </a:solidFill>
                <a:latin typeface="Calibri"/>
              </a:defRPr>
            </a:pPr>
            <a:r>
              <a:t>IMPACT &amp;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Triple Impact: Merchants + Paytm + India's Economy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00B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642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FOR MERCHANTS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48840"/>
            <a:ext cx="2697480" cy="155448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6350">
            <a:solidFill>
              <a:srgbClr val="00B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B9F1"/>
                </a:solidFill>
                <a:latin typeface="Calibri"/>
              </a:defRPr>
            </a:pPr>
            <a:r>
              <a:t>+15-25%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43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Revenue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632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Demand-aligned stocking</a:t>
            </a:r>
            <a:br/>
            <a:r>
              <a:t>+ customer retention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2148840"/>
            <a:ext cx="2697480" cy="155448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6350">
            <a:solidFill>
              <a:srgbClr val="00B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B9F1"/>
                </a:solidFill>
                <a:latin typeface="Calibri"/>
              </a:defRPr>
            </a:pPr>
            <a:r>
              <a:t>-30%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743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Inventory Waste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0632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Smart reorder points</a:t>
            </a:r>
            <a:br/>
            <a:r>
              <a:t>+ dead stock alerts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148840"/>
            <a:ext cx="2697480" cy="155448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6350">
            <a:solidFill>
              <a:srgbClr val="00B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B9F1"/>
                </a:solidFill>
                <a:latin typeface="Calibri"/>
              </a:defRPr>
            </a:pPr>
            <a:r>
              <a:t>+20%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743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Customer Retention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0632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RFM-driven win-back</a:t>
            </a:r>
            <a:br/>
            <a:r>
              <a:t>campaigns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2148840"/>
            <a:ext cx="2697480" cy="155448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6350">
            <a:solidFill>
              <a:srgbClr val="00B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3544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B9F1"/>
                </a:solidFill>
                <a:latin typeface="Calibri"/>
              </a:defRPr>
            </a:pPr>
            <a:r>
              <a:t>5+ hrs/week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743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Time Saved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0632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AI automates all</a:t>
            </a:r>
            <a:br/>
            <a:r>
              <a:t>business analysis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931920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9502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FOR PAYTM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434840"/>
            <a:ext cx="2697480" cy="105156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45262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D4AA"/>
                </a:solidFill>
                <a:latin typeface="Calibri"/>
              </a:defRPr>
            </a:pPr>
            <a:r>
              <a:t>+15-25%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937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Merchant GMV</a:t>
            </a:r>
            <a:br/>
            <a:r>
              <a:t>Growth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37560" y="4434840"/>
            <a:ext cx="2697480" cy="105156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63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74720" y="45262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2C55E"/>
                </a:solidFill>
                <a:latin typeface="Calibri"/>
              </a:defRPr>
            </a:pPr>
            <a:r>
              <a:t>-20%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937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Merchant</a:t>
            </a:r>
            <a:br/>
            <a:r>
              <a:t>Churn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434840"/>
            <a:ext cx="2697480" cy="105156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6350">
            <a:solidFill>
              <a:srgbClr val="FF7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55080" y="45262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7A2F"/>
                </a:solidFill>
                <a:latin typeface="Calibri"/>
              </a:defRPr>
            </a:pPr>
            <a:r>
              <a:t>3x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937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Product</a:t>
            </a:r>
            <a:br/>
            <a:r>
              <a:t>Cross-sell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98280" y="4434840"/>
            <a:ext cx="2697480" cy="105156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63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35440" y="45262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C107"/>
                </a:solidFill>
                <a:latin typeface="Calibri"/>
              </a:defRPr>
            </a:pPr>
            <a:r>
              <a:t>Data Moat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4937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Competitive</a:t>
            </a:r>
            <a:br/>
            <a:r>
              <a:t>Differentiation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669280"/>
            <a:ext cx="11247120" cy="365760"/>
          </a:xfrm>
          <a:prstGeom prst="roundRect">
            <a:avLst>
              <a:gd name="adj" fmla="val 5000"/>
            </a:avLst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56875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B0E17"/>
                </a:solidFill>
                <a:latin typeface="Calibri"/>
              </a:defRPr>
            </a:pPr>
            <a:r>
              <a:t>FOR INDIA'S ECONOMY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126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Financial Inclusion — AI business intelligence for Tier 2/3/4 merchants who can't afford consultants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Food Waste Reduction — Better demand forecasting for perishable goods across millions of kiranas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63854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Digital Adoption — AI value proposition drives UPI &amp; digital payments in underserved segments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C107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5 Revenue Streams for Paytm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554480"/>
            <a:ext cx="2212848" cy="301752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2700">
            <a:solidFill>
              <a:srgbClr val="00B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2212848" cy="50800"/>
          </a:xfrm>
          <a:prstGeom prst="rect">
            <a:avLst/>
          </a:prstGeom>
          <a:solidFill>
            <a:srgbClr val="00B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Freemium SaaS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86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B9F1"/>
                </a:solidFill>
                <a:latin typeface="Calibri"/>
              </a:defRPr>
            </a:pPr>
            <a:r>
              <a:t>Free tier drives adoption</a:t>
            </a:r>
            <a:br/>
            <a:r>
              <a:t>Pro Rs.199/mo | Premium Rs.499/mo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834640"/>
            <a:ext cx="18288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29260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Free: 5 nudges/week, basic insights</a:t>
            </a:r>
            <a:br/>
            <a:r>
              <a:t>Pro: Unlimited + demand forecasting</a:t>
            </a:r>
            <a:br/>
            <a:r>
              <a:t>Premium: Full AI copilot + WhatsApp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1554480"/>
            <a:ext cx="2212848" cy="301752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33472" y="1554480"/>
            <a:ext cx="2212848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70632" y="17373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GMV Revenue Uplift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0632" y="2286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D4AA"/>
                </a:solidFill>
                <a:latin typeface="Calibri"/>
              </a:defRPr>
            </a:pPr>
            <a:r>
              <a:t>Higher merchant sales =</a:t>
            </a:r>
            <a:br/>
            <a:r>
              <a:t>higher MDR revenue for Paytm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70632" y="2834640"/>
            <a:ext cx="18288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70632" y="29260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Growing merchants transact more</a:t>
            </a:r>
            <a:br/>
            <a:r>
              <a:t>on Paytm. Every Rs.1 GMV increase</a:t>
            </a:r>
            <a:br/>
            <a:r>
              <a:t>generates direct commission.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92624" y="1554480"/>
            <a:ext cx="2212848" cy="301752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2700">
            <a:solidFill>
              <a:srgbClr val="FF7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992624" y="1554480"/>
            <a:ext cx="2212848" cy="508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29784" y="17373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Financial Product</a:t>
            </a:r>
            <a:br/>
            <a:r>
              <a:t>Cross-sell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9784" y="2286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7A2F"/>
                </a:solidFill>
                <a:latin typeface="Calibri"/>
              </a:defRPr>
            </a:pPr>
            <a:r>
              <a:t>AI recommends Paytm Loans,</a:t>
            </a:r>
            <a:br/>
            <a:r>
              <a:t>Insurance, Postpaid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9784" y="2834640"/>
            <a:ext cx="18288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29784" y="29260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Cash flow prediction drives loan</a:t>
            </a:r>
            <a:br/>
            <a:r>
              <a:t>adoption. MerchantMind Score</a:t>
            </a:r>
            <a:br/>
            <a:r>
              <a:t>unlocks better rates.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51776" y="1554480"/>
            <a:ext cx="2212848" cy="301752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51776" y="1554480"/>
            <a:ext cx="2212848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88936" y="17373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Paytm Ads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8936" y="2286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2C55E"/>
                </a:solidFill>
                <a:latin typeface="Calibri"/>
              </a:defRPr>
            </a:pPr>
            <a:r>
              <a:t>Brands pay to be</a:t>
            </a:r>
            <a:br/>
            <a:r>
              <a:t>recommended ethically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88936" y="2834640"/>
            <a:ext cx="18288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88936" y="29260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FMCG brands sponsor inventory</a:t>
            </a:r>
            <a:br/>
            <a:r>
              <a:t>suggestions (disclosed). E.g., "Try</a:t>
            </a:r>
            <a:br/>
            <a:r>
              <a:t>stocking Brand X — similar stores"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10928" y="1554480"/>
            <a:ext cx="2212848" cy="301752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710928" y="1554480"/>
            <a:ext cx="2212848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48088" y="17373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Data Intelligence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48088" y="2286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855F7"/>
                </a:solidFill>
                <a:latin typeface="Calibri"/>
              </a:defRPr>
            </a:pPr>
            <a:r>
              <a:t>Anonymized demand</a:t>
            </a:r>
            <a:br/>
            <a:r>
              <a:t>intelligence for brands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48088" y="2834640"/>
            <a:ext cx="18288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48088" y="29260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Aggregated, privacy-safe demand</a:t>
            </a:r>
            <a:br/>
            <a:r>
              <a:t>trends sold to FMCG/CPG brands</a:t>
            </a:r>
            <a:br/>
            <a:r>
              <a:t>for supply chain planning.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C107"/>
                </a:solidFill>
                <a:latin typeface="Calibri"/>
              </a:defRPr>
            </a:pPr>
            <a:r>
              <a:t>REVENUE PROJECTIONS (CONSERVATIVE)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166360"/>
            <a:ext cx="10058400" cy="320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51790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C107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51790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C107"/>
                </a:solidFill>
                <a:latin typeface="Calibri"/>
              </a:defRPr>
            </a:pPr>
            <a:r>
              <a:t>Year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51790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C107"/>
                </a:solidFill>
                <a:latin typeface="Calibri"/>
              </a:defRPr>
            </a:pPr>
            <a:r>
              <a:t>Year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51790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C107"/>
                </a:solidFill>
                <a:latin typeface="Calibri"/>
              </a:defRPr>
            </a:pPr>
            <a:r>
              <a:t>Year 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5532120"/>
            <a:ext cx="10058400" cy="32004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1520" y="55448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Pro Subscribers (2% of free)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31920" y="55448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100K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5448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300K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55448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500K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5852160"/>
            <a:ext cx="10058400" cy="320040"/>
          </a:xfrm>
          <a:prstGeom prst="roundRect">
            <a:avLst>
              <a:gd name="adj" fmla="val 5000"/>
            </a:avLst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31520" y="58648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Calibri"/>
              </a:defRPr>
            </a:pPr>
            <a:r>
              <a:t>Subscription Revenue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31920" y="58648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Rs.39 Cr/yr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58648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Rs.117 Cr/yr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58648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Rs.195 Cr/yr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6172200"/>
            <a:ext cx="10058400" cy="32004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31520" y="61849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Calibri"/>
              </a:defRPr>
            </a:pPr>
            <a:r>
              <a:t>Incremental GMV Revenue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31920" y="61849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C55E"/>
                </a:solidFill>
                <a:latin typeface="Calibri"/>
              </a:defRPr>
            </a:pPr>
            <a:r>
              <a:t>Rs.100+ Cr/yr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0" y="61849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C55E"/>
                </a:solidFill>
                <a:latin typeface="Calibri"/>
              </a:defRPr>
            </a:pPr>
            <a:r>
              <a:t>Rs.400+ Cr/yr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0" y="61849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C55E"/>
                </a:solidFill>
                <a:latin typeface="Calibri"/>
              </a:defRPr>
            </a:pPr>
            <a:r>
              <a:t>Rs.800+ Cr/yr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B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480"/>
              </a:lnSpc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FFFFFF"/>
                </a:solidFill>
                <a:latin typeface="Calibri"/>
              </a:defRPr>
            </a:pPr>
            <a:r>
              <a:rPr sz="5400" dirty="0" err="1"/>
              <a:t>DukaanSaathi</a:t>
            </a:r>
            <a:r>
              <a:rPr sz="5400" dirty="0"/>
              <a:t>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00D4AA"/>
                </a:solidFill>
                <a:latin typeface="Calibri"/>
              </a:defRPr>
            </a:pPr>
            <a:r>
              <a:t>हर दुकान का अपना AI साथी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017520"/>
            <a:ext cx="2103120" cy="38100"/>
          </a:xfrm>
          <a:prstGeom prst="rect">
            <a:avLst/>
          </a:prstGeom>
          <a:solidFill>
            <a:srgbClr val="00B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698480" cy="356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sz="2400" dirty="0"/>
              <a:t>Making AI-powered business intelligence accessible to every merchant in India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4114800"/>
            <a:ext cx="4846320" cy="1463040"/>
          </a:xfrm>
          <a:prstGeom prst="roundRect">
            <a:avLst>
              <a:gd name="adj" fmla="val 5000"/>
            </a:avLst>
          </a:prstGeom>
          <a:solidFill>
            <a:srgbClr val="121724"/>
          </a:solidFill>
          <a:ln w="12700">
            <a:solidFill>
              <a:srgbClr val="00B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0" y="42519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B9F1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572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Tushar Bhardwaj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937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NIT Kurukshetra  |  AI/ML Researcher  |  Full-Stack AI Builder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5212080"/>
            <a:ext cx="4846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rPr lang="en-IN" dirty="0"/>
              <a:t>20</a:t>
            </a:r>
            <a:r>
              <a:rPr dirty="0"/>
              <a:t>+ Production AI Projects  |  1500+ DSA Problems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0" y="6126480"/>
            <a:ext cx="12191695" cy="731520"/>
          </a:xfrm>
          <a:prstGeom prst="roundRect">
            <a:avLst>
              <a:gd name="adj" fmla="val 5000"/>
            </a:avLst>
          </a:prstGeom>
          <a:solidFill>
            <a:srgbClr val="08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6236208"/>
            <a:ext cx="10698480" cy="294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rPr sz="2000" dirty="0"/>
              <a:t>Paytm Build for India AI Hackathon 2026  |  Track 1: Merchant Growth AI  |  Let's Build for India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1750</Words>
  <Application>Microsoft Office PowerPoint</Application>
  <PresentationFormat>Widescreen</PresentationFormat>
  <Paragraphs>213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Tushar Bhardwaj</cp:lastModifiedBy>
  <cp:revision>1</cp:revision>
  <dcterms:created xsi:type="dcterms:W3CDTF">2013-01-27T09:14:16Z</dcterms:created>
  <dcterms:modified xsi:type="dcterms:W3CDTF">2026-10-26T15:19:12Z</dcterms:modified>
  <cp:category/>
</cp:coreProperties>
</file>